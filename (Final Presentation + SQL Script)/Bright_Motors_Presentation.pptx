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8" y="7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15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554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518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548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9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54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806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782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33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42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0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337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4659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6252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977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6024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184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30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7411116" cy="3329581"/>
          </a:xfrm>
        </p:spPr>
        <p:txBody>
          <a:bodyPr/>
          <a:lstStyle/>
          <a:p>
            <a:pPr>
              <a:defRPr sz="2800" b="1"/>
            </a:pPr>
            <a:r>
              <a:rPr dirty="0"/>
              <a:t>Bright Motors Car Sales Analysis (BRIGHTLEARN)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1" y="4777380"/>
            <a:ext cx="7302773" cy="861420"/>
          </a:xfrm>
        </p:spPr>
        <p:txBody>
          <a:bodyPr>
            <a:normAutofit fontScale="85000" lnSpcReduction="20000"/>
          </a:bodyPr>
          <a:lstStyle/>
          <a:p>
            <a:pPr>
              <a:defRPr sz="1200"/>
            </a:pPr>
            <a:r>
              <a:rPr dirty="0"/>
              <a:t>Business Insights for the Head of Sales</a:t>
            </a:r>
          </a:p>
          <a:p>
            <a:r>
              <a:rPr dirty="0"/>
              <a:t>Period covered: Jan 2014 - Jul 2015</a:t>
            </a:r>
          </a:p>
          <a:p>
            <a:r>
              <a:rPr dirty="0"/>
              <a:t>Prepared by: </a:t>
            </a:r>
            <a:r>
              <a:rPr lang="en-US" dirty="0"/>
              <a:t>Ntshembo Maluleke</a:t>
            </a:r>
            <a:r>
              <a:rPr dirty="0"/>
              <a:t> (Junior Data Analyst)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Introduction:</a:t>
            </a:r>
          </a:p>
          <a:p>
            <a:pPr lvl="1">
              <a:defRPr sz="1200"/>
            </a:pPr>
            <a:r>
              <a:t>Bright Motors historical car sales dataset captures daily transactional and pricing information. The Head of Sales needs actionable insights to expand the dealership network, improve sales performance, and optimize inventory.</a:t>
            </a:r>
          </a:p>
          <a:p>
            <a:r>
              <a:t>Objectives:</a:t>
            </a:r>
          </a:p>
          <a:p>
            <a:pPr lvl="1">
              <a:defRPr sz="1200"/>
            </a:pPr>
            <a:r>
              <a:t>• Identify makes/models that generate the most revenue</a:t>
            </a:r>
            <a:br/>
            <a:r>
              <a:t>• Understand relationship between price, mileage and year</a:t>
            </a:r>
            <a:br/>
            <a:r>
              <a:t>• Identify regions with highest sales volume</a:t>
            </a:r>
            <a:br/>
            <a:r>
              <a:t>• Discover emerging customer preferences</a:t>
            </a:r>
            <a:br/>
            <a:r>
              <a:t>• Recommend actions to increase profitability and efficiency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— 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High-level KPIs (Executive):</a:t>
            </a:r>
          </a:p>
          <a:p>
            <a:pPr lvl="1">
              <a:defRPr sz="1200"/>
            </a:pPr>
            <a:r>
              <a:t>• Total Revenue: 8bn</a:t>
            </a:r>
          </a:p>
          <a:p>
            <a:pPr lvl="1">
              <a:defRPr sz="1200"/>
            </a:pPr>
            <a:r>
              <a:t>• Units Sold: 559K</a:t>
            </a:r>
          </a:p>
          <a:p>
            <a:pPr lvl="1">
              <a:defRPr sz="1200"/>
            </a:pPr>
            <a:r>
              <a:t>• Total Market Value: 8bn</a:t>
            </a:r>
          </a:p>
          <a:p>
            <a:pPr lvl="1">
              <a:defRPr sz="1200"/>
            </a:pPr>
            <a:r>
              <a:t>• Sum of PRICE_DIFF: -88M</a:t>
            </a:r>
          </a:p>
          <a:p>
            <a:pPr lvl="1">
              <a:defRPr sz="1200"/>
            </a:pPr>
            <a:r>
              <a:t>• Total Profit: -88.30M</a:t>
            </a:r>
          </a:p>
          <a:p>
            <a:pPr lvl="1">
              <a:defRPr sz="1200"/>
            </a:pPr>
            <a:r>
              <a:t>• Avg Profit Margin: See report</a:t>
            </a:r>
          </a:p>
          <a:p>
            <a:pPr lvl="1">
              <a:defRPr sz="1200"/>
            </a:pPr>
            <a:r>
              <a:t>• Avg Selling Price: See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8" name="Add-in 7" title="Microsoft Power BI">
                <a:extLst>
                  <a:ext uri="{FF2B5EF4-FFF2-40B4-BE49-F238E27FC236}">
                    <a16:creationId xmlns:a16="http://schemas.microsoft.com/office/drawing/2014/main" id="{89E51571-70CD-4EC6-A0E2-B984ADD3B2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6526985"/>
                  </p:ext>
                </p:extLst>
              </p:nvPr>
            </p:nvGraphicFramePr>
            <p:xfrm>
              <a:off x="0" y="465828"/>
              <a:ext cx="9144000" cy="5287992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8" name="Add-in 7" title="Microsoft Power BI">
                <a:extLst>
                  <a:ext uri="{FF2B5EF4-FFF2-40B4-BE49-F238E27FC236}">
                    <a16:creationId xmlns:a16="http://schemas.microsoft.com/office/drawing/2014/main" id="{89E51571-70CD-4EC6-A0E2-B984ADD3B23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465828"/>
                <a:ext cx="9144000" cy="5287992"/>
              </a:xfrm>
              <a:prstGeom prst="rect">
                <a:avLst/>
              </a:prstGeom>
            </p:spPr>
          </p:pic>
        </mc:Fallback>
      </mc:AlternateContent>
      <p:sp>
        <p:nvSpPr>
          <p:cNvPr id="9" name="Rectangle 1">
            <a:extLst>
              <a:ext uri="{FF2B5EF4-FFF2-40B4-BE49-F238E27FC236}">
                <a16:creationId xmlns:a16="http://schemas.microsoft.com/office/drawing/2014/main" id="{8A67B2F2-0D19-C621-811B-2971FA8CD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543464"/>
            <a:ext cx="9144000" cy="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Filters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1AD90AF-2573-C449-DF3C-244E8C14D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79562"/>
            <a:ext cx="9144000" cy="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Filters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&amp; Top Performers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Top Findings:</a:t>
            </a:r>
          </a:p>
          <a:p>
            <a:pPr>
              <a:defRPr sz="1200"/>
            </a:pPr>
            <a:r>
              <a:t>• Revenue concentrated among a small set of brands; prioritize inventory for high-impact brands</a:t>
            </a:r>
            <a:br/>
            <a:r>
              <a:t>• Top models drive most units sold — ensure supply matches demand</a:t>
            </a:r>
            <a:br/>
            <a:r>
              <a:t>• Monitor price_diff to avoid consistent below-market selling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 vs Mileage vs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Analysis Summary:</a:t>
            </a:r>
          </a:p>
          <a:p>
            <a:pPr>
              <a:defRPr sz="1200"/>
            </a:pPr>
            <a:r>
              <a:t>• Higher mileage leads to lower selling price (negative correlation)</a:t>
            </a:r>
            <a:br/>
            <a:r>
              <a:t>• Newer model years command higher prices; segment pricing by year</a:t>
            </a:r>
            <a:br/>
            <a:r>
              <a:t>• Use scatter plot in Power BI to set pricing bands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Key Insights:</a:t>
            </a:r>
          </a:p>
          <a:p>
            <a:pPr>
              <a:defRPr sz="1200"/>
            </a:pPr>
            <a:r>
              <a:t>• Certain regions deliver higher volumes and revenue — focus expansion and marketing there</a:t>
            </a:r>
            <a:br/>
            <a:r>
              <a:t>• Use map visuals to identify city-level pockets of demand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Preferences &amp; Inventory Mix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Insights:</a:t>
            </a:r>
          </a:p>
          <a:p>
            <a:pPr>
              <a:defRPr sz="1200"/>
            </a:pPr>
            <a:r>
              <a:t>• Most units sold are Automatic transmission — stock accordingly</a:t>
            </a:r>
            <a:br/>
            <a:r>
              <a:t>• Popular colors and body types should guide procurement</a:t>
            </a:r>
            <a:br/>
            <a:r>
              <a:t>• Track high-margin trims for promotional focus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116DF-4032-1395-E46E-7AE55F449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84882-1BFC-A1A2-EB07-A8F340CF0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Findings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7E1DC38-1414-D5B6-4799-9D00D8B198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3840" y="2418357"/>
            <a:ext cx="8607552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Revenue: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Total sales ≈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R8B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closely aligned with market value → stable pricing.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Weekly Trends: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Tues–Thurs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 the highest revenue;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weekends almost zero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low customer activity.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Patterns: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Feb leads (R2.2B)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 &amp; Jul near zero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possible stock or reporting gaps.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Margin Insights: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Sales dominated by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Margin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vehicles; many units sold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below market value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Transmission: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dominates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sales; Manual very low; many “Unknown” entries → data quality issues.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Brand Performance: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Major brands (Audi, BMW, Cadillac, Bentley) drive revenue; some show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negative price difference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loss-making sales.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Quality Challenges: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Missing Brand, Model, Trim, Condition, Transmission; some rows marked “Incomplete”; missing months suggest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gaps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34042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webextensions/webextension1.xml><?xml version="1.0" encoding="utf-8"?>
<we:webextension xmlns:we="http://schemas.microsoft.com/office/webextensions/webextension/2010/11" id="{43AC914C-1FA8-4D75-A04F-38DF5499E862}">
  <we:reference id="wa200003233" version="2.0.0.3" store="en-US" storeType="OMEX"/>
  <we:alternateReferences>
    <we:reference id="WA200003233" version="2.0.0.3" store="WA200003233" storeType="OMEX"/>
  </we:alternateReferences>
  <we:properties>
    <we:property name="pptInsertionSessionID" value="&quot;C729670E-B460-4F96-AAE5-3F1EF34A1CDE&quot;"/>
    <we:property name="reportUrl" value="&quot;/groups/me/reports/51b870b4-f410-42fe-9c65-e1c047f38026/80929d4a14e5cec0a398?experience=power-bi&quot;"/>
    <we:property name="reportName" value="&quot;Car Sales in progress&quot;"/>
    <we:property name="reportState" value="&quot;CONNECTED&quot;"/>
    <we:property name="embedUrl" value="&quot;/reportEmbed?reportId=51b870b4-f410-42fe-9c65-e1c047f38026&amp;config=eyJjbHVzdGVyVXJsIjoiaHR0cHM6Ly9XQUJJLU5PUlRILUVVUk9QRS1yZWRpcmVjdC5hbmFseXNpcy53aW5kb3dzLm5ldCIsImVtYmVkRmVhdHVyZXMiOnsidXNhZ2VNZXRyaWNzVk5leHQiOnRydWV9fQ%3D%3D&amp;disableSensitivityBanner=true&amp;storytellingChangeViewModeShortcutKeys=true&quot;"/>
    <we:property name="pageName" value="&quot;80929d4a14e5cec0a398&quot;"/>
    <we:property name="pageDisplayName" value="&quot;Page 1&quot;"/>
    <we:property name="datasetId" value="&quot;02c4a552-58c9-40a4-bdde-785d1ece94be&quot;"/>
    <we:property name="backgroundColor" value="&quot;#ECECEC&quot;"/>
    <we:property name="bookmark" value="&quot;H4sIAAAAAAAAA+1abW/iOBD+K6t82TuJW9mJ8+L9RoHuoW1pD9ieVqcKOfaEZi8kXGJouWr/+00c2KUtLS1a2vTuJCSI7YyfeXlmxgnXloqLaSIWPTEB6711kGV/TkT+5xtqNay0GgObk8iVPsFvsG3OgHGczaY6ztLCen9taZGPQZ/FxUwkpSAc/OO8YYkkORXj8ioSSQENawp5kaUiif+GajFO6XwGXxsWXE2TLBelyIEWGkqxc1yO1wiBvnNwRyF1PIcBSF2NBoTbXDFBGbgSJBEOD3BZUS0wyDYuKUWb7VtZqkWc4jblGHE8SmwfqKdC4vtCOagnjkdxopdLwkXnapqjdqjzYloap6nmIpWgLKNCDkWF+Npqjsc5jIVeXnZuTLayZDbZMD7IZrmEPkRmKtWxXuAeLZG/GYgEilETjbco4uIn+2frK1rtNM/QpmbRp153OBgNTo7aZuZwli7NRMrLi+yylQPaVZUDjfrBP272P3aGo7Pm0afOq1TgtN9tdUbt7uHhD4F/DKKY5fBDIQ4zLZI3OBDF2qoZqj7MIZ3BBljnOFLE6ThZ5ozv9B1WaKXI1XIKs1L4BelfkhVvy3IF+cHC8LUd56vEYTduoX8OtVAPXMD8MHJdxv3QDqnDAAjzS9kPKlhcCPy+oVspizDBbEaEDJgtfUGUImyrLA1XOsyu7kpjMsCsJxyKX5guHS5Dtbu0QAWRL0AFXFCXYV5VgbernmVSpoo60gsYShQsCN3Xk5eHJ8Pm0ajfOev0npbZWjg0zvJYmriGfeNsNz+Pes3jzk4MNHBaFyLXj6QgvU3B/Wr09XzVPeD8l7X+YGnkCt9+MZybYLZdJmWkXOI54BFiS5fArsSAgNAw8LkNlDgOI8SXzs6yZBAQl4eEh9gqcZvQ3WX5NpM0YFKExGHUoyHQnZMcpcLFFGfbNKSeT1wiHbWV/M9MHexdPnR7o1Zz2Plw0v+8W2mtc7+4NQGoLJ3pp/D/Tgmuk/ovli3uBtIyaYDPHOJ6SCVPOk4IoefVjgQnveGv91WQGsb/E+vyVgokeI6sWwW84ZOXi+p1FFVAB9QPfRlSCVi1GKOUBXTXChHxQGEXDHbAqc98iYVCvJ72cLdj+zNze9hv9gbH3cGge9J7nv7w//rwCD9UXHKY4pEbMscnPgttZRMX6lYcDhB4+3XUhVf/IGrnA2dtNHjKo7StuWcazzM9FGECt1PPRgr3s8tiX/RdsaDira8CiHjoeHh8cxSlnk3CuvH2waZuq+mLJJaQ3zC7NYF8bNKTEloYzabVdjFU85ky02AUv7aOYjRGJftMJLNS7Ns23qGyy/Rt2dUsH6xtdKa5Y2/uvNXXGHeItFi9waj2zbPE/FphwdKRwBySavavGeQL3Nys2Ljpu7Vd8N64QEUSMS1KF5SvTnBIgYH9ERbPpGoJ4zRO0xWGciTPMl3KXaFZmT6dJcnSRQo7tUgF1MNTPPUcB7s2UreAHzSPMPPg+euHx/sY0iqQ74R8pf/NX2erV1/YCB3m2cTctnxHJ3GHLVo1rAoSKV3z+wWUz7ZNZKQq1t+sN5mKPC5uX32MU2X2PYJIP9rM1YVB96BJ+/H4Qt9DbEwJoOMJvLUJZb8Qip8hIe/N5zvXTQDekz0KjS1me/n68IEUsnWnxqMS0QHoS4AbeegFT3vrhr63Rd1vSlyHUFU5zimRlEfMVcJ3uE9c7teN9P3Ohx0PNv/yCvfNMMtTu6DcEVwBd6UizCfOIzqWe7vKPeD97VOzP+z0a+vJsnB20zlKADWApPLj8XYpZZF92Uj4btkqFMADmwdEBpRCwLgdcHDqRuthv3tc21B4OVcuzVL5MaTS9wWTvgzd0FMeCUJZNz/e9/Dgv+7I9eOkceYmNbOZLqZCwqlIYYO65siiQG1R2fx/a60D+wfwrk2INyYAAA==&quot;"/>
    <we:property name="initialStateBookmark" value="&quot;H4sIAAAAAAAAA+1a62/iRhD/V07+cq1ET7v2+nXfCJArSgIpcKlOVYT2MRBfHZvaCwmN8r93vDZ3eZCQoCNx2kpI4Nn1vOc3szZXloryWcyXPX4O1kdrL03/POfZn++o1bCSitbvHxw1BwfjXvOog+R0pqM0ya2PV5bm2RT0SZTPeVxwQOIfpw2Lx/ExnxZXEx7n0LBmkOVpwuPobyg345LO5nDdsOByFqcZL1gONddQsF3gdrxG2fSDgxK51NEChiB1SQ1IaIeKccrAlSAJd8IAt+XlBqPZ2i0FayO+lSaaRwmKKWjE8SixfaCeEsT3uXJYWNAnUayrLWLZuZxlaB3avJwVXmmqBU8kKMuYkEFeanxlNafTDKZcV5edW4utNJ6fr6EP03kmYQATs5ToSC9RRotn74Y8hnzcROct8yj/yf7ZukavHWcp+tRs+tzrjobjYf+wbVb250nlJlJcnqUXrQzQr6ogNOqnfpFZndH4pHn4ufMmDTgedFudcbu7v/9D1D8Cns8z+KEqjlLN43dImETaqplWA1hAMoc1ap0iJY+SaVxhxvfyHZXaSp6paglRSXzF8i+KFW9LMwXZ3tLUazvKVsBhN+5o/xJmoR24gfli4ros9IUtqMMACPML3o8amJ9x/L5lW8GLMM5sRrgMmC19TpQibCMvDZdapJf3uTEZIOpxh+IXwqUTSqG25xaoYOJzUEHIqcsQV1XgbWtnAcpUUUd6AUOOnAXCfTu4POqPmofjQeek03sesrWQNE2zSJq8hl3r2W5+KTv7NhVo1Gmd8Uw/sQTp3RLcrUXXp6vpAde/3pgPKieX+u1Wh1OTzLbLpJwol3gOeITY0iWwbWFAQKgI/NAGShyHEeJLZ2teMgiIGwoSChyVQpvQ7Xn5NpM0YJIL4jDqUQF0a5CjlLsIcbZNBfV84hLpqI3F/8Klg7PLp25v3GqOOp/6gy/btdY6z4sbAUClyVw/p/7vteA6mf9qaHE/kSrQAJ85xPWwlDzpOAKE59WuCPq90a8PdZAa5v8z+/LGEojxHFm3DngrJq+X1Te1KBM6oL7wpaASsGsxRikL6LYdYhIGCqdgsIOQ+syX2Cj42xkPtzu2v3BtjwbN3vCoOxx2+72XmQ//7w9PiENZSw5T4cQVzPGJz4StbOJC3ZrDHirefht94c0/iNr6wFkbC57zKG0j9syiRapHXMRwF3rWlvAgvch3Vb6rKijr1lcBTELheHh8cxSlnk1E3er20aFuo+vzOJKQ3XK7dQ7Z1MCT4poby2aluAjK9VSZZTCGX1mHETqj5H3C43nB9n0b71DpRfK+mGqqB2trg2nu2Fk478w1Jhw8yVdvMEq5WRqbXytdsHXEsIC4XP1rDtkShZsda4V+uCEF741yNCTms7wIQfHqBEkKjNoHsHwhUws1jqMkWelQULI01QXflTYr1yfzOK5CpHBSm6iAeniKp57j4NRG6pbww+YhIg+ev354vk8hKRP5XsqX9t/+dbJ69YWD0H6WnpvbqpdzEiVssKphlSqRIjS/n0HxbNtkRqIi/c175zOeRfndq4MoUUbuIUz0k91cXhjtHnXpIJqe6QcKGyEBdHQO721C2S+E4mdEyEfz+V7rJgEfQI9c44jZrl4fPgIhGyU1ngREe6AvAG7h0Cue9m46+sERdbeQeFOFssuFISWShhPmKu47oU/c0K9b0Q86n7Y82PzLO9w3x1Sndk5Dh4cKQlcqwnziPGFieXCq3IG+v31uDkadQW0jWTTObrJADqCGEJdxPNrMpWiyr5sJ3z1bpgJ4YIcBkQGlELDQDkJw6lbWo0H3qLap8HqhrNxSxlFQ6fucSV8KV3jKI4GQdYvjQw8P/uuBvHmcNMFcZ2Y61/mMSzjmCawx1xxZFKgNJpv/b5UIhh6OisP0MxDr+vofcFyIJGAmAAA=&quot;"/>
    <we:property name="isFiltersActionButtonVisible" value="true"/>
    <we:property name="isVisualContainerHeaderHidden" value="false"/>
    <we:property name="reportEmbeddedTime" value="&quot;2025-11-20T21:30:09.580Z&quot;"/>
    <we:property name="creatorTenantId" value="&quot;0adfc9de-d5fa-4331-941c-063c37be0232&quot;"/>
    <we:property name="creatorUserId" value="&quot;100320003888D33C&quot;"/>
    <we:property name="creatorSessionId" value="&quot;50ae5539-f06a-4832-b952-e14b9921b612&quot;"/>
    <we:property name="artifactViewState" value="&quot;liv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15</TotalTime>
  <Words>483</Words>
  <Application>Microsoft Office PowerPoint</Application>
  <PresentationFormat>On-screen Show (4:3)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Segoe UI</vt:lpstr>
      <vt:lpstr>Wingdings 3</vt:lpstr>
      <vt:lpstr>Ion Boardroom</vt:lpstr>
      <vt:lpstr>Bright Motors Car Sales Analysis (BRIGHTLEARN)</vt:lpstr>
      <vt:lpstr>Introduction &amp; Objectives</vt:lpstr>
      <vt:lpstr>Executive Summary — Key KPIs</vt:lpstr>
      <vt:lpstr>PowerPoint Presentation</vt:lpstr>
      <vt:lpstr>Revenue &amp; Top Performers</vt:lpstr>
      <vt:lpstr>Price vs Mileage vs Year</vt:lpstr>
      <vt:lpstr>Regional Performance</vt:lpstr>
      <vt:lpstr>Customer Preferences &amp; Inventory Mix</vt:lpstr>
      <vt:lpstr>Summary of Findings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Dallas</dc:creator>
  <cp:keywords/>
  <dc:description>generated using python-pptx</dc:description>
  <cp:lastModifiedBy>NTSHEMBO MALULEKE</cp:lastModifiedBy>
  <cp:revision>2</cp:revision>
  <dcterms:created xsi:type="dcterms:W3CDTF">2013-01-27T09:14:16Z</dcterms:created>
  <dcterms:modified xsi:type="dcterms:W3CDTF">2025-11-20T21:38:58Z</dcterms:modified>
  <cp:category/>
</cp:coreProperties>
</file>